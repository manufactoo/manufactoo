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24" d="100"/>
          <a:sy n="124" d="100"/>
        </p:scale>
        <p:origin x="51" y="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36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factory has the same problem: what actually happens on the line, and what your system says happened, are two different stories — written on paper, typed into a spreadsheet, entered into your ERP hours later, if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Manufactoo closes that gap. It's open source — the code is open, auditable, yours to inspect. It's on-premise — it runs on your own server, so your production data never leaves your company. It's composable — you turn on only the modules your factory actually needs, nothing bloated, nothing you'll never touch. It's no-code — every screen your operators use is built by dragging and dropping, not by writing software. And it's built directly on top of Odoo — not a copy of your data, not a separate database to keep in sync, but a live connection to the Odoo you already run. Whichever version — 18, 19 — it simply connects.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doesn't take a consultant or a six-month rollout. A guided wizard walks you through it in minutes: choose your language, connect to your real Odoo instance — it detects the version on its own, no guesswork — set up your company details, and create your administrator account. Five short steps, and your installation is live, already talking to your real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there, you build. No code, no developers, no backlog of feature requests. Open the station designer and drag onto the screen exactly what your operator needs to see — who's working, which order they're on, which lot, which reading from the scale — and connect each field straight to your Odoo data with a click. Every station designed the way your floor actually works, not the way a generic template assumes it should.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it runs, right there on the floor. This is what the operator sees: read, weigh, confirm — and it's already written back to Odoo, in real time. No spreadsheet at the end of the shift, no retyping, no gap between what happened on the line and what the system knows. Just the truth, the moment it happens.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Manufactoo. Open source. On-premise. Built on Odoo.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pic>
        <p:nvPicPr>
          <p:cNvPr id="3" name="Image 0" descr="C:\proyectos\manufactoo\frontend\public\manufactoo-logo-dark.png"/>
          <p:cNvPicPr>
            <a:picLocks noChangeAspect="1"/>
          </p:cNvPicPr>
          <p:nvPr/>
        </p:nvPicPr>
        <p:blipFill>
          <a:blip r:embed="rId3"/>
          <a:stretch>
            <a:fillRect/>
          </a:stretch>
        </p:blipFill>
        <p:spPr>
          <a:xfrm>
            <a:off x="5181448" y="1828800"/>
            <a:ext cx="1828800" cy="1828800"/>
          </a:xfrm>
          <a:prstGeom prst="rect">
            <a:avLst/>
          </a:prstGeom>
        </p:spPr>
      </p:pic>
      <p:sp>
        <p:nvSpPr>
          <p:cNvPr id="4" name="Text 1"/>
          <p:cNvSpPr/>
          <p:nvPr/>
        </p:nvSpPr>
        <p:spPr>
          <a:xfrm>
            <a:off x="0" y="3840480"/>
            <a:ext cx="12191695" cy="822960"/>
          </a:xfrm>
          <a:prstGeom prst="rect">
            <a:avLst/>
          </a:prstGeom>
          <a:noFill/>
          <a:ln/>
        </p:spPr>
        <p:txBody>
          <a:bodyPr wrap="square" lIns="0" tIns="0" rIns="0" bIns="0" rtlCol="0" anchor="ctr"/>
          <a:lstStyle/>
          <a:p>
            <a:pPr marL="0" indent="0" algn="ctr">
              <a:buNone/>
            </a:pPr>
            <a:r>
              <a:rPr lang="en-US" sz="4400" b="1" kern="0" spc="400" dirty="0">
                <a:solidFill>
                  <a:srgbClr val="F5F6FA"/>
                </a:solidFill>
                <a:latin typeface="Calibri" pitchFamily="34" charset="0"/>
                <a:ea typeface="Calibri" pitchFamily="34" charset="-122"/>
                <a:cs typeface="Calibri" pitchFamily="34" charset="-120"/>
              </a:rPr>
              <a:t>MANUFACTOO</a:t>
            </a:r>
            <a:endParaRPr lang="en-US" sz="4400" dirty="0"/>
          </a:p>
        </p:txBody>
      </p:sp>
      <p:sp>
        <p:nvSpPr>
          <p:cNvPr id="7" name="Text 2">
            <a:extLst>
              <a:ext uri="{FF2B5EF4-FFF2-40B4-BE49-F238E27FC236}">
                <a16:creationId xmlns:a16="http://schemas.microsoft.com/office/drawing/2014/main" id="{A8717216-3FD3-7250-8C8A-B50C75539754}"/>
              </a:ext>
            </a:extLst>
          </p:cNvPr>
          <p:cNvSpPr/>
          <p:nvPr/>
        </p:nvSpPr>
        <p:spPr>
          <a:xfrm>
            <a:off x="0" y="4754880"/>
            <a:ext cx="12191695" cy="457200"/>
          </a:xfrm>
          <a:prstGeom prst="rect">
            <a:avLst/>
          </a:prstGeom>
          <a:noFill/>
          <a:ln/>
        </p:spPr>
        <p:txBody>
          <a:bodyPr wrap="square" lIns="0" tIns="0" rIns="0" bIns="0" rtlCol="0" anchor="ctr"/>
          <a:lstStyle/>
          <a:p>
            <a:pPr marL="0" indent="0" algn="ctr">
              <a:buNone/>
            </a:pPr>
            <a:r>
              <a:rPr lang="en-US" sz="1800" dirty="0">
                <a:solidFill>
                  <a:srgbClr val="8A93A6"/>
                </a:solidFill>
                <a:latin typeface="Calibri" pitchFamily="34" charset="0"/>
                <a:ea typeface="Calibri" pitchFamily="34" charset="-122"/>
                <a:cs typeface="Calibri" pitchFamily="34" charset="-120"/>
              </a:rPr>
              <a:t>Open Source, No-code, Composable, On Premise, built on Odoo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sp>
        <p:nvSpPr>
          <p:cNvPr id="3" name="Text 1"/>
          <p:cNvSpPr/>
          <p:nvPr/>
        </p:nvSpPr>
        <p:spPr>
          <a:xfrm>
            <a:off x="640080" y="502920"/>
            <a:ext cx="10881360" cy="365760"/>
          </a:xfrm>
          <a:prstGeom prst="rect">
            <a:avLst/>
          </a:prstGeom>
          <a:noFill/>
          <a:ln/>
        </p:spPr>
        <p:txBody>
          <a:bodyPr wrap="square" lIns="0" tIns="0" rIns="0" bIns="0" rtlCol="0" anchor="ctr"/>
          <a:lstStyle/>
          <a:p>
            <a:pPr marL="0" indent="0" algn="l">
              <a:buNone/>
            </a:pPr>
            <a:r>
              <a:rPr lang="en-US" sz="1400" b="1" kern="0" spc="200" dirty="0">
                <a:solidFill>
                  <a:srgbClr val="5B7FFF"/>
                </a:solidFill>
                <a:latin typeface="Calibri" pitchFamily="34" charset="0"/>
                <a:ea typeface="Calibri" pitchFamily="34" charset="-122"/>
                <a:cs typeface="Calibri" pitchFamily="34" charset="-120"/>
              </a:rPr>
              <a:t>THE PROBLEM</a:t>
            </a:r>
            <a:endParaRPr lang="en-US" sz="1400" dirty="0"/>
          </a:p>
        </p:txBody>
      </p:sp>
      <p:sp>
        <p:nvSpPr>
          <p:cNvPr id="4" name="Text 2"/>
          <p:cNvSpPr/>
          <p:nvPr/>
        </p:nvSpPr>
        <p:spPr>
          <a:xfrm>
            <a:off x="640080" y="886968"/>
            <a:ext cx="10881360" cy="685800"/>
          </a:xfrm>
          <a:prstGeom prst="rect">
            <a:avLst/>
          </a:prstGeom>
          <a:noFill/>
          <a:ln/>
        </p:spPr>
        <p:txBody>
          <a:bodyPr wrap="square" lIns="0" tIns="0" rIns="0" bIns="0" rtlCol="0" anchor="ctr"/>
          <a:lstStyle/>
          <a:p>
            <a:pPr marL="0" indent="0" algn="l">
              <a:buNone/>
            </a:pPr>
            <a:r>
              <a:rPr lang="en-US" sz="3200" b="1" dirty="0">
                <a:solidFill>
                  <a:srgbClr val="F5F6FA"/>
                </a:solidFill>
                <a:latin typeface="Calibri" pitchFamily="34" charset="0"/>
                <a:ea typeface="Calibri" pitchFamily="34" charset="-122"/>
                <a:cs typeface="Calibri" pitchFamily="34" charset="-120"/>
              </a:rPr>
              <a:t>Two different stories.</a:t>
            </a:r>
            <a:endParaRPr lang="en-US" sz="3200" dirty="0"/>
          </a:p>
        </p:txBody>
      </p:sp>
      <p:sp>
        <p:nvSpPr>
          <p:cNvPr id="5" name="Text 3"/>
          <p:cNvSpPr/>
          <p:nvPr/>
        </p:nvSpPr>
        <p:spPr>
          <a:xfrm>
            <a:off x="640080" y="1600200"/>
            <a:ext cx="10881360" cy="685800"/>
          </a:xfrm>
          <a:prstGeom prst="rect">
            <a:avLst/>
          </a:prstGeom>
          <a:noFill/>
          <a:ln/>
        </p:spPr>
        <p:txBody>
          <a:bodyPr wrap="square" lIns="0" tIns="0" rIns="0" bIns="0" rtlCol="0" anchor="ctr"/>
          <a:lstStyle/>
          <a:p>
            <a:pPr marL="0" indent="0" algn="l">
              <a:buNone/>
            </a:pPr>
            <a:r>
              <a:rPr lang="en-US" sz="1500" dirty="0">
                <a:solidFill>
                  <a:srgbClr val="C7CCDA"/>
                </a:solidFill>
                <a:latin typeface="Calibri" pitchFamily="34" charset="0"/>
                <a:ea typeface="Calibri" pitchFamily="34" charset="-122"/>
                <a:cs typeface="Calibri" pitchFamily="34" charset="-120"/>
              </a:rPr>
              <a:t>What actually happens on the line, and what your system says happened, are too often two different stories: written on paper, typed into a spreadsheet, entered into the ERP hours later – if at all.</a:t>
            </a:r>
            <a:endParaRPr lang="en-US" sz="1500" dirty="0"/>
          </a:p>
        </p:txBody>
      </p:sp>
      <p:sp>
        <p:nvSpPr>
          <p:cNvPr id="6" name="Text 4"/>
          <p:cNvSpPr/>
          <p:nvPr/>
        </p:nvSpPr>
        <p:spPr>
          <a:xfrm>
            <a:off x="640080" y="2331720"/>
            <a:ext cx="10881360" cy="365760"/>
          </a:xfrm>
          <a:prstGeom prst="rect">
            <a:avLst/>
          </a:prstGeom>
          <a:noFill/>
          <a:ln/>
        </p:spPr>
        <p:txBody>
          <a:bodyPr wrap="square" lIns="0" tIns="0" rIns="0" bIns="0" rtlCol="0" anchor="ctr"/>
          <a:lstStyle/>
          <a:p>
            <a:pPr marL="0" indent="0" algn="l">
              <a:buNone/>
            </a:pPr>
            <a:r>
              <a:rPr lang="en-US" sz="1700" b="1" dirty="0">
                <a:solidFill>
                  <a:srgbClr val="F5F6FA"/>
                </a:solidFill>
                <a:latin typeface="Calibri" pitchFamily="34" charset="0"/>
                <a:ea typeface="Calibri" pitchFamily="34" charset="-122"/>
                <a:cs typeface="Calibri" pitchFamily="34" charset="-120"/>
              </a:rPr>
              <a:t>Manufactoo closes that gap:</a:t>
            </a:r>
            <a:endParaRPr lang="en-US" sz="1700" dirty="0"/>
          </a:p>
        </p:txBody>
      </p:sp>
      <p:sp>
        <p:nvSpPr>
          <p:cNvPr id="7" name="Shape 5"/>
          <p:cNvSpPr/>
          <p:nvPr/>
        </p:nvSpPr>
        <p:spPr>
          <a:xfrm>
            <a:off x="822960" y="2953512"/>
            <a:ext cx="457200" cy="457200"/>
          </a:xfrm>
          <a:prstGeom prst="ellipse">
            <a:avLst/>
          </a:prstGeom>
          <a:solidFill>
            <a:srgbClr val="5B7FFF"/>
          </a:solidFill>
          <a:ln/>
        </p:spPr>
        <p:txBody>
          <a:bodyPr/>
          <a:lstStyle/>
          <a:p>
            <a:endParaRPr lang="es-ES"/>
          </a:p>
        </p:txBody>
      </p:sp>
      <p:sp>
        <p:nvSpPr>
          <p:cNvPr id="9" name="Text 6"/>
          <p:cNvSpPr/>
          <p:nvPr/>
        </p:nvSpPr>
        <p:spPr>
          <a:xfrm>
            <a:off x="1508760" y="2880360"/>
            <a:ext cx="9966960" cy="640080"/>
          </a:xfrm>
          <a:prstGeom prst="rect">
            <a:avLst/>
          </a:prstGeom>
          <a:noFill/>
          <a:ln/>
        </p:spPr>
        <p:txBody>
          <a:bodyPr wrap="square" lIns="0" tIns="0" rIns="0" bIns="0" rtlCol="0" anchor="ctr"/>
          <a:lstStyle/>
          <a:p>
            <a:pPr marL="0" indent="0" algn="l">
              <a:buNone/>
            </a:pPr>
            <a:r>
              <a:rPr lang="en-US" sz="1500" b="1" dirty="0">
                <a:solidFill>
                  <a:srgbClr val="F5F6FA"/>
                </a:solidFill>
                <a:latin typeface="Calibri" pitchFamily="34" charset="0"/>
                <a:ea typeface="Calibri" pitchFamily="34" charset="-122"/>
                <a:cs typeface="Calibri" pitchFamily="34" charset="-120"/>
              </a:rPr>
              <a:t>Open Source</a:t>
            </a:r>
            <a:r>
              <a:rPr lang="en-US" sz="1400" dirty="0">
                <a:solidFill>
                  <a:srgbClr val="C7CCDA"/>
                </a:solidFill>
                <a:latin typeface="Calibri" pitchFamily="34" charset="0"/>
                <a:ea typeface="Calibri" pitchFamily="34" charset="-122"/>
                <a:cs typeface="Calibri" pitchFamily="34" charset="-120"/>
              </a:rPr>
              <a:t>   The code is open and auditable – yours to inspect, anytime.</a:t>
            </a:r>
            <a:endParaRPr lang="en-US" sz="1500" dirty="0"/>
          </a:p>
        </p:txBody>
      </p:sp>
      <p:sp>
        <p:nvSpPr>
          <p:cNvPr id="10" name="Shape 7"/>
          <p:cNvSpPr/>
          <p:nvPr/>
        </p:nvSpPr>
        <p:spPr>
          <a:xfrm>
            <a:off x="822960" y="3666744"/>
            <a:ext cx="457200" cy="457200"/>
          </a:xfrm>
          <a:prstGeom prst="ellipse">
            <a:avLst/>
          </a:prstGeom>
          <a:solidFill>
            <a:srgbClr val="5B7FFF"/>
          </a:solidFill>
          <a:ln/>
        </p:spPr>
        <p:txBody>
          <a:bodyPr/>
          <a:lstStyle/>
          <a:p>
            <a:endParaRPr lang="es-ES"/>
          </a:p>
        </p:txBody>
      </p:sp>
      <p:sp>
        <p:nvSpPr>
          <p:cNvPr id="12" name="Text 8"/>
          <p:cNvSpPr/>
          <p:nvPr/>
        </p:nvSpPr>
        <p:spPr>
          <a:xfrm>
            <a:off x="1508760" y="3593592"/>
            <a:ext cx="9966960" cy="640080"/>
          </a:xfrm>
          <a:prstGeom prst="rect">
            <a:avLst/>
          </a:prstGeom>
          <a:noFill/>
          <a:ln/>
        </p:spPr>
        <p:txBody>
          <a:bodyPr wrap="square" lIns="0" tIns="0" rIns="0" bIns="0" rtlCol="0" anchor="ctr"/>
          <a:lstStyle/>
          <a:p>
            <a:pPr marL="0" indent="0" algn="l">
              <a:buNone/>
            </a:pPr>
            <a:r>
              <a:rPr lang="en-US" sz="1500" b="1" dirty="0">
                <a:solidFill>
                  <a:srgbClr val="F5F6FA"/>
                </a:solidFill>
                <a:latin typeface="Calibri" pitchFamily="34" charset="0"/>
                <a:ea typeface="Calibri" pitchFamily="34" charset="-122"/>
                <a:cs typeface="Calibri" pitchFamily="34" charset="-120"/>
              </a:rPr>
              <a:t>On-Premise</a:t>
            </a:r>
            <a:r>
              <a:rPr lang="en-US" sz="1400" dirty="0">
                <a:solidFill>
                  <a:srgbClr val="C7CCDA"/>
                </a:solidFill>
                <a:latin typeface="Calibri" pitchFamily="34" charset="0"/>
                <a:ea typeface="Calibri" pitchFamily="34" charset="-122"/>
                <a:cs typeface="Calibri" pitchFamily="34" charset="-120"/>
              </a:rPr>
              <a:t>   Runs on your own server. Your production data never leaves your company.</a:t>
            </a:r>
            <a:endParaRPr lang="en-US" sz="1500" dirty="0"/>
          </a:p>
        </p:txBody>
      </p:sp>
      <p:sp>
        <p:nvSpPr>
          <p:cNvPr id="13" name="Shape 9"/>
          <p:cNvSpPr/>
          <p:nvPr/>
        </p:nvSpPr>
        <p:spPr>
          <a:xfrm>
            <a:off x="822960" y="4379976"/>
            <a:ext cx="457200" cy="457200"/>
          </a:xfrm>
          <a:prstGeom prst="ellipse">
            <a:avLst/>
          </a:prstGeom>
          <a:solidFill>
            <a:srgbClr val="5B7FFF"/>
          </a:solidFill>
          <a:ln/>
        </p:spPr>
        <p:txBody>
          <a:bodyPr/>
          <a:lstStyle/>
          <a:p>
            <a:endParaRPr lang="es-ES"/>
          </a:p>
        </p:txBody>
      </p:sp>
      <p:sp>
        <p:nvSpPr>
          <p:cNvPr id="15" name="Text 10"/>
          <p:cNvSpPr/>
          <p:nvPr/>
        </p:nvSpPr>
        <p:spPr>
          <a:xfrm>
            <a:off x="1508760" y="4306824"/>
            <a:ext cx="9966960" cy="640080"/>
          </a:xfrm>
          <a:prstGeom prst="rect">
            <a:avLst/>
          </a:prstGeom>
          <a:noFill/>
          <a:ln/>
        </p:spPr>
        <p:txBody>
          <a:bodyPr wrap="square" lIns="0" tIns="0" rIns="0" bIns="0" rtlCol="0" anchor="ctr"/>
          <a:lstStyle/>
          <a:p>
            <a:pPr marL="0" indent="0" algn="l">
              <a:buNone/>
            </a:pPr>
            <a:r>
              <a:rPr lang="en-US" sz="1500" b="1" dirty="0">
                <a:solidFill>
                  <a:srgbClr val="F5F6FA"/>
                </a:solidFill>
                <a:latin typeface="Calibri" pitchFamily="34" charset="0"/>
                <a:ea typeface="Calibri" pitchFamily="34" charset="-122"/>
                <a:cs typeface="Calibri" pitchFamily="34" charset="-120"/>
              </a:rPr>
              <a:t>Composable</a:t>
            </a:r>
            <a:r>
              <a:rPr lang="en-US" sz="1400" dirty="0">
                <a:solidFill>
                  <a:srgbClr val="C7CCDA"/>
                </a:solidFill>
                <a:latin typeface="Calibri" pitchFamily="34" charset="0"/>
                <a:ea typeface="Calibri" pitchFamily="34" charset="-122"/>
                <a:cs typeface="Calibri" pitchFamily="34" charset="-120"/>
              </a:rPr>
              <a:t>   Turn on only the modules your factory actually needs – nothing bloated, nothing you'll never touch.</a:t>
            </a:r>
            <a:endParaRPr lang="en-US" sz="1500" dirty="0"/>
          </a:p>
        </p:txBody>
      </p:sp>
      <p:sp>
        <p:nvSpPr>
          <p:cNvPr id="16" name="Shape 11"/>
          <p:cNvSpPr/>
          <p:nvPr/>
        </p:nvSpPr>
        <p:spPr>
          <a:xfrm>
            <a:off x="822960" y="5093208"/>
            <a:ext cx="457200" cy="457200"/>
          </a:xfrm>
          <a:prstGeom prst="ellipse">
            <a:avLst/>
          </a:prstGeom>
          <a:solidFill>
            <a:srgbClr val="5B7FFF"/>
          </a:solidFill>
          <a:ln/>
        </p:spPr>
        <p:txBody>
          <a:bodyPr/>
          <a:lstStyle/>
          <a:p>
            <a:endParaRPr lang="es-ES"/>
          </a:p>
        </p:txBody>
      </p:sp>
      <p:sp>
        <p:nvSpPr>
          <p:cNvPr id="18" name="Text 12"/>
          <p:cNvSpPr/>
          <p:nvPr/>
        </p:nvSpPr>
        <p:spPr>
          <a:xfrm>
            <a:off x="1508760" y="5020056"/>
            <a:ext cx="9966960" cy="640080"/>
          </a:xfrm>
          <a:prstGeom prst="rect">
            <a:avLst/>
          </a:prstGeom>
          <a:noFill/>
          <a:ln/>
        </p:spPr>
        <p:txBody>
          <a:bodyPr wrap="square" lIns="0" tIns="0" rIns="0" bIns="0" rtlCol="0" anchor="ctr"/>
          <a:lstStyle/>
          <a:p>
            <a:pPr marL="0" indent="0" algn="l">
              <a:buNone/>
            </a:pPr>
            <a:r>
              <a:rPr lang="en-US" sz="1500" b="1" dirty="0">
                <a:solidFill>
                  <a:srgbClr val="F5F6FA"/>
                </a:solidFill>
                <a:latin typeface="Calibri" pitchFamily="34" charset="0"/>
                <a:ea typeface="Calibri" pitchFamily="34" charset="-122"/>
                <a:cs typeface="Calibri" pitchFamily="34" charset="-120"/>
              </a:rPr>
              <a:t>No-Code</a:t>
            </a:r>
            <a:r>
              <a:rPr lang="en-US" sz="1400" dirty="0">
                <a:solidFill>
                  <a:srgbClr val="C7CCDA"/>
                </a:solidFill>
                <a:latin typeface="Calibri" pitchFamily="34" charset="0"/>
                <a:ea typeface="Calibri" pitchFamily="34" charset="-122"/>
                <a:cs typeface="Calibri" pitchFamily="34" charset="-120"/>
              </a:rPr>
              <a:t>   Every operator screen is built by dragging and dropping – not by writing software.</a:t>
            </a:r>
            <a:endParaRPr lang="en-US" sz="1500" dirty="0"/>
          </a:p>
        </p:txBody>
      </p:sp>
      <p:sp>
        <p:nvSpPr>
          <p:cNvPr id="19" name="Shape 13"/>
          <p:cNvSpPr/>
          <p:nvPr/>
        </p:nvSpPr>
        <p:spPr>
          <a:xfrm>
            <a:off x="822960" y="5806440"/>
            <a:ext cx="457200" cy="457200"/>
          </a:xfrm>
          <a:prstGeom prst="ellipse">
            <a:avLst/>
          </a:prstGeom>
          <a:solidFill>
            <a:srgbClr val="5B7FFF"/>
          </a:solidFill>
          <a:ln/>
        </p:spPr>
        <p:txBody>
          <a:bodyPr/>
          <a:lstStyle/>
          <a:p>
            <a:endParaRPr lang="es-ES"/>
          </a:p>
        </p:txBody>
      </p:sp>
      <p:sp>
        <p:nvSpPr>
          <p:cNvPr id="21" name="Text 14"/>
          <p:cNvSpPr/>
          <p:nvPr/>
        </p:nvSpPr>
        <p:spPr>
          <a:xfrm>
            <a:off x="1508760" y="5733288"/>
            <a:ext cx="9966960" cy="640080"/>
          </a:xfrm>
          <a:prstGeom prst="rect">
            <a:avLst/>
          </a:prstGeom>
          <a:noFill/>
          <a:ln/>
        </p:spPr>
        <p:txBody>
          <a:bodyPr wrap="square" lIns="0" tIns="0" rIns="0" bIns="0" rtlCol="0" anchor="ctr"/>
          <a:lstStyle/>
          <a:p>
            <a:pPr marL="0" indent="0" algn="l">
              <a:buNone/>
            </a:pPr>
            <a:r>
              <a:rPr lang="en-US" sz="1500" b="1" dirty="0">
                <a:solidFill>
                  <a:srgbClr val="F5F6FA"/>
                </a:solidFill>
                <a:latin typeface="Calibri" pitchFamily="34" charset="0"/>
                <a:ea typeface="Calibri" pitchFamily="34" charset="-122"/>
                <a:cs typeface="Calibri" pitchFamily="34" charset="-120"/>
              </a:rPr>
              <a:t>Built on Odoo</a:t>
            </a:r>
            <a:r>
              <a:rPr lang="en-US" sz="1400" dirty="0">
                <a:solidFill>
                  <a:srgbClr val="C7CCDA"/>
                </a:solidFill>
                <a:latin typeface="Calibri" pitchFamily="34" charset="0"/>
                <a:ea typeface="Calibri" pitchFamily="34" charset="-122"/>
                <a:cs typeface="Calibri" pitchFamily="34" charset="-120"/>
              </a:rPr>
              <a:t>   A live connection to the Odoo you already run – not a copy. Odoo 18 or 19, detected automatically.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sp>
        <p:nvSpPr>
          <p:cNvPr id="3" name="Text 1"/>
          <p:cNvSpPr/>
          <p:nvPr/>
        </p:nvSpPr>
        <p:spPr>
          <a:xfrm>
            <a:off x="640080" y="548640"/>
            <a:ext cx="10881360" cy="365760"/>
          </a:xfrm>
          <a:prstGeom prst="rect">
            <a:avLst/>
          </a:prstGeom>
          <a:noFill/>
          <a:ln/>
        </p:spPr>
        <p:txBody>
          <a:bodyPr wrap="square" lIns="0" tIns="0" rIns="0" bIns="0" rtlCol="0" anchor="ctr"/>
          <a:lstStyle/>
          <a:p>
            <a:pPr marL="0" indent="0" algn="l">
              <a:buNone/>
            </a:pPr>
            <a:r>
              <a:rPr lang="en-US" sz="1400" b="1" kern="0" spc="200" dirty="0">
                <a:solidFill>
                  <a:srgbClr val="5B7FFF"/>
                </a:solidFill>
                <a:latin typeface="Calibri" pitchFamily="34" charset="0"/>
                <a:ea typeface="Calibri" pitchFamily="34" charset="-122"/>
                <a:cs typeface="Calibri" pitchFamily="34" charset="-120"/>
              </a:rPr>
              <a:t>GETTING STARTED</a:t>
            </a:r>
            <a:endParaRPr lang="en-US" sz="1400" dirty="0"/>
          </a:p>
        </p:txBody>
      </p:sp>
      <p:sp>
        <p:nvSpPr>
          <p:cNvPr id="4" name="Text 2"/>
          <p:cNvSpPr/>
          <p:nvPr/>
        </p:nvSpPr>
        <p:spPr>
          <a:xfrm>
            <a:off x="640080" y="932688"/>
            <a:ext cx="10881360" cy="685800"/>
          </a:xfrm>
          <a:prstGeom prst="rect">
            <a:avLst/>
          </a:prstGeom>
          <a:noFill/>
          <a:ln/>
        </p:spPr>
        <p:txBody>
          <a:bodyPr wrap="square" lIns="0" tIns="0" rIns="0" bIns="0" rtlCol="0" anchor="ctr"/>
          <a:lstStyle/>
          <a:p>
            <a:pPr marL="0" indent="0" algn="l">
              <a:buNone/>
            </a:pPr>
            <a:r>
              <a:rPr lang="en-US" sz="3200" b="1" dirty="0">
                <a:solidFill>
                  <a:srgbClr val="F5F6FA"/>
                </a:solidFill>
                <a:latin typeface="Calibri" pitchFamily="34" charset="0"/>
                <a:ea typeface="Calibri" pitchFamily="34" charset="-122"/>
                <a:cs typeface="Calibri" pitchFamily="34" charset="-120"/>
              </a:rPr>
              <a:t>Live in minutes.</a:t>
            </a:r>
            <a:endParaRPr lang="en-US" sz="3200" dirty="0"/>
          </a:p>
        </p:txBody>
      </p:sp>
      <p:sp>
        <p:nvSpPr>
          <p:cNvPr id="5" name="Shape 3"/>
          <p:cNvSpPr/>
          <p:nvPr/>
        </p:nvSpPr>
        <p:spPr>
          <a:xfrm>
            <a:off x="10858500" y="662940"/>
            <a:ext cx="777240" cy="777240"/>
          </a:xfrm>
          <a:prstGeom prst="ellipse">
            <a:avLst/>
          </a:prstGeom>
          <a:solidFill>
            <a:srgbClr val="5B7FFF"/>
          </a:solidFill>
          <a:ln/>
        </p:spPr>
        <p:txBody>
          <a:bodyPr/>
          <a:lstStyle/>
          <a:p>
            <a:endParaRPr lang="es-ES"/>
          </a:p>
        </p:txBody>
      </p:sp>
      <p:sp>
        <p:nvSpPr>
          <p:cNvPr id="7" name="Text 4"/>
          <p:cNvSpPr/>
          <p:nvPr/>
        </p:nvSpPr>
        <p:spPr>
          <a:xfrm>
            <a:off x="640080" y="2331720"/>
            <a:ext cx="6309360" cy="3657600"/>
          </a:xfrm>
          <a:prstGeom prst="rect">
            <a:avLst/>
          </a:prstGeom>
          <a:noFill/>
          <a:ln/>
        </p:spPr>
        <p:txBody>
          <a:bodyPr wrap="square" lIns="0" tIns="0" rIns="0" bIns="0" rtlCol="0" anchor="ctr"/>
          <a:lstStyle/>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Getting started doesn't take a consultant or a six-month rollout. A guided wizard walks you through it: choose your language, connect to your real Odoo instance – it detects the version on its own, no guesswork – set up your company details, and create your administrator account.</a:t>
            </a:r>
            <a:endParaRPr lang="en-US" sz="1600" dirty="0"/>
          </a:p>
          <a:p>
            <a:pPr marL="0" indent="0" algn="l">
              <a:lnSpc>
                <a:spcPct val="125000"/>
              </a:lnSpc>
              <a:buNone/>
            </a:pPr>
            <a:endParaRPr lang="en-US" sz="1600" dirty="0"/>
          </a:p>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Five short steps, and your installation is live, already talking to your real data.</a:t>
            </a:r>
            <a:endParaRPr lang="en-US" sz="1600" dirty="0"/>
          </a:p>
        </p:txBody>
      </p:sp>
      <p:sp>
        <p:nvSpPr>
          <p:cNvPr id="8" name="Shape 5"/>
          <p:cNvSpPr/>
          <p:nvPr/>
        </p:nvSpPr>
        <p:spPr>
          <a:xfrm>
            <a:off x="7315200" y="2331720"/>
            <a:ext cx="4206240" cy="3794760"/>
          </a:xfrm>
          <a:prstGeom prst="roundRect">
            <a:avLst>
              <a:gd name="adj" fmla="val 2892"/>
            </a:avLst>
          </a:prstGeom>
          <a:solidFill>
            <a:srgbClr val="121729"/>
          </a:solidFill>
          <a:ln/>
        </p:spPr>
        <p:txBody>
          <a:bodyPr/>
          <a:lstStyle/>
          <a:p>
            <a:endParaRPr lang="es-ES"/>
          </a:p>
        </p:txBody>
      </p:sp>
      <p:sp>
        <p:nvSpPr>
          <p:cNvPr id="9" name="Text 6"/>
          <p:cNvSpPr/>
          <p:nvPr/>
        </p:nvSpPr>
        <p:spPr>
          <a:xfrm>
            <a:off x="7589520" y="2651760"/>
            <a:ext cx="457200" cy="630936"/>
          </a:xfrm>
          <a:prstGeom prst="rect">
            <a:avLst/>
          </a:prstGeom>
          <a:noFill/>
          <a:ln/>
        </p:spPr>
        <p:txBody>
          <a:bodyPr wrap="square" lIns="0" tIns="0" rIns="0" bIns="0" rtlCol="0" anchor="ctr"/>
          <a:lstStyle/>
          <a:p>
            <a:pPr marL="0" indent="0" algn="l">
              <a:buNone/>
            </a:pPr>
            <a:r>
              <a:rPr lang="en-US" sz="1800" b="1" dirty="0">
                <a:solidFill>
                  <a:srgbClr val="5B7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8092440" y="2651760"/>
            <a:ext cx="3154680" cy="630936"/>
          </a:xfrm>
          <a:prstGeom prst="rect">
            <a:avLst/>
          </a:prstGeom>
          <a:noFill/>
          <a:ln/>
        </p:spPr>
        <p:txBody>
          <a:bodyPr wrap="square" lIns="0" tIns="0" rIns="0" bIns="0" rtlCol="0" anchor="ctr"/>
          <a:lstStyle/>
          <a:p>
            <a:pPr marL="0" indent="0" algn="l">
              <a:buNone/>
            </a:pPr>
            <a:r>
              <a:rPr lang="en-US" sz="1400" dirty="0">
                <a:solidFill>
                  <a:srgbClr val="F5F6FA"/>
                </a:solidFill>
                <a:latin typeface="Calibri" pitchFamily="34" charset="0"/>
                <a:ea typeface="Calibri" pitchFamily="34" charset="-122"/>
                <a:cs typeface="Calibri" pitchFamily="34" charset="-120"/>
              </a:rPr>
              <a:t>Language</a:t>
            </a:r>
            <a:endParaRPr lang="en-US" sz="1400" dirty="0"/>
          </a:p>
        </p:txBody>
      </p:sp>
      <p:sp>
        <p:nvSpPr>
          <p:cNvPr id="11" name="Text 8"/>
          <p:cNvSpPr/>
          <p:nvPr/>
        </p:nvSpPr>
        <p:spPr>
          <a:xfrm>
            <a:off x="7589520" y="3282696"/>
            <a:ext cx="457200" cy="630936"/>
          </a:xfrm>
          <a:prstGeom prst="rect">
            <a:avLst/>
          </a:prstGeom>
          <a:noFill/>
          <a:ln/>
        </p:spPr>
        <p:txBody>
          <a:bodyPr wrap="square" lIns="0" tIns="0" rIns="0" bIns="0" rtlCol="0" anchor="ctr"/>
          <a:lstStyle/>
          <a:p>
            <a:pPr marL="0" indent="0" algn="l">
              <a:buNone/>
            </a:pPr>
            <a:r>
              <a:rPr lang="en-US" sz="1800" b="1" dirty="0">
                <a:solidFill>
                  <a:srgbClr val="5B7FFF"/>
                </a:solidFill>
                <a:latin typeface="Calibri" pitchFamily="34" charset="0"/>
                <a:ea typeface="Calibri" pitchFamily="34" charset="-122"/>
                <a:cs typeface="Calibri" pitchFamily="34" charset="-120"/>
              </a:rPr>
              <a:t>2</a:t>
            </a:r>
            <a:endParaRPr lang="en-US" sz="1800" dirty="0"/>
          </a:p>
        </p:txBody>
      </p:sp>
      <p:sp>
        <p:nvSpPr>
          <p:cNvPr id="12" name="Text 9"/>
          <p:cNvSpPr/>
          <p:nvPr/>
        </p:nvSpPr>
        <p:spPr>
          <a:xfrm>
            <a:off x="8092440" y="3282696"/>
            <a:ext cx="3154680" cy="630936"/>
          </a:xfrm>
          <a:prstGeom prst="rect">
            <a:avLst/>
          </a:prstGeom>
          <a:noFill/>
          <a:ln/>
        </p:spPr>
        <p:txBody>
          <a:bodyPr wrap="square" lIns="0" tIns="0" rIns="0" bIns="0" rtlCol="0" anchor="ctr"/>
          <a:lstStyle/>
          <a:p>
            <a:pPr marL="0" indent="0" algn="l">
              <a:buNone/>
            </a:pPr>
            <a:r>
              <a:rPr lang="en-US" sz="1400" dirty="0">
                <a:solidFill>
                  <a:srgbClr val="F5F6FA"/>
                </a:solidFill>
                <a:latin typeface="Calibri" pitchFamily="34" charset="0"/>
                <a:ea typeface="Calibri" pitchFamily="34" charset="-122"/>
                <a:cs typeface="Calibri" pitchFamily="34" charset="-120"/>
              </a:rPr>
              <a:t>Connect to Odoo – version detected automatically</a:t>
            </a:r>
            <a:endParaRPr lang="en-US" sz="1400" dirty="0"/>
          </a:p>
        </p:txBody>
      </p:sp>
      <p:sp>
        <p:nvSpPr>
          <p:cNvPr id="13" name="Text 10"/>
          <p:cNvSpPr/>
          <p:nvPr/>
        </p:nvSpPr>
        <p:spPr>
          <a:xfrm>
            <a:off x="7589520" y="3913632"/>
            <a:ext cx="457200" cy="630936"/>
          </a:xfrm>
          <a:prstGeom prst="rect">
            <a:avLst/>
          </a:prstGeom>
          <a:noFill/>
          <a:ln/>
        </p:spPr>
        <p:txBody>
          <a:bodyPr wrap="square" lIns="0" tIns="0" rIns="0" bIns="0" rtlCol="0" anchor="ctr"/>
          <a:lstStyle/>
          <a:p>
            <a:pPr marL="0" indent="0" algn="l">
              <a:buNone/>
            </a:pPr>
            <a:r>
              <a:rPr lang="en-US" sz="1800" b="1" dirty="0">
                <a:solidFill>
                  <a:srgbClr val="5B7FFF"/>
                </a:solidFill>
                <a:latin typeface="Calibri" pitchFamily="34" charset="0"/>
                <a:ea typeface="Calibri" pitchFamily="34" charset="-122"/>
                <a:cs typeface="Calibri" pitchFamily="34" charset="-120"/>
              </a:rPr>
              <a:t>3</a:t>
            </a:r>
            <a:endParaRPr lang="en-US" sz="1800" dirty="0"/>
          </a:p>
        </p:txBody>
      </p:sp>
      <p:sp>
        <p:nvSpPr>
          <p:cNvPr id="14" name="Text 11"/>
          <p:cNvSpPr/>
          <p:nvPr/>
        </p:nvSpPr>
        <p:spPr>
          <a:xfrm>
            <a:off x="8092440" y="3913632"/>
            <a:ext cx="3154680" cy="630936"/>
          </a:xfrm>
          <a:prstGeom prst="rect">
            <a:avLst/>
          </a:prstGeom>
          <a:noFill/>
          <a:ln/>
        </p:spPr>
        <p:txBody>
          <a:bodyPr wrap="square" lIns="0" tIns="0" rIns="0" bIns="0" rtlCol="0" anchor="ctr"/>
          <a:lstStyle/>
          <a:p>
            <a:pPr marL="0" indent="0" algn="l">
              <a:buNone/>
            </a:pPr>
            <a:r>
              <a:rPr lang="en-US" sz="1400" dirty="0">
                <a:solidFill>
                  <a:srgbClr val="F5F6FA"/>
                </a:solidFill>
                <a:latin typeface="Calibri" pitchFamily="34" charset="0"/>
                <a:ea typeface="Calibri" pitchFamily="34" charset="-122"/>
                <a:cs typeface="Calibri" pitchFamily="34" charset="-120"/>
              </a:rPr>
              <a:t>Company details</a:t>
            </a:r>
            <a:endParaRPr lang="en-US" sz="1400" dirty="0"/>
          </a:p>
        </p:txBody>
      </p:sp>
      <p:sp>
        <p:nvSpPr>
          <p:cNvPr id="15" name="Text 12"/>
          <p:cNvSpPr/>
          <p:nvPr/>
        </p:nvSpPr>
        <p:spPr>
          <a:xfrm>
            <a:off x="7589520" y="4544568"/>
            <a:ext cx="457200" cy="630936"/>
          </a:xfrm>
          <a:prstGeom prst="rect">
            <a:avLst/>
          </a:prstGeom>
          <a:noFill/>
          <a:ln/>
        </p:spPr>
        <p:txBody>
          <a:bodyPr wrap="square" lIns="0" tIns="0" rIns="0" bIns="0" rtlCol="0" anchor="ctr"/>
          <a:lstStyle/>
          <a:p>
            <a:pPr marL="0" indent="0" algn="l">
              <a:buNone/>
            </a:pPr>
            <a:r>
              <a:rPr lang="en-US" sz="1800" b="1" dirty="0">
                <a:solidFill>
                  <a:srgbClr val="5B7FFF"/>
                </a:solidFill>
                <a:latin typeface="Calibri" pitchFamily="34" charset="0"/>
                <a:ea typeface="Calibri" pitchFamily="34" charset="-122"/>
                <a:cs typeface="Calibri" pitchFamily="34" charset="-120"/>
              </a:rPr>
              <a:t>4</a:t>
            </a:r>
            <a:endParaRPr lang="en-US" sz="1800" dirty="0"/>
          </a:p>
        </p:txBody>
      </p:sp>
      <p:sp>
        <p:nvSpPr>
          <p:cNvPr id="16" name="Text 13"/>
          <p:cNvSpPr/>
          <p:nvPr/>
        </p:nvSpPr>
        <p:spPr>
          <a:xfrm>
            <a:off x="8092440" y="4544568"/>
            <a:ext cx="3154680" cy="630936"/>
          </a:xfrm>
          <a:prstGeom prst="rect">
            <a:avLst/>
          </a:prstGeom>
          <a:noFill/>
          <a:ln/>
        </p:spPr>
        <p:txBody>
          <a:bodyPr wrap="square" lIns="0" tIns="0" rIns="0" bIns="0" rtlCol="0" anchor="ctr"/>
          <a:lstStyle/>
          <a:p>
            <a:pPr marL="0" indent="0" algn="l">
              <a:buNone/>
            </a:pPr>
            <a:r>
              <a:rPr lang="en-US" sz="1400" dirty="0">
                <a:solidFill>
                  <a:srgbClr val="F5F6FA"/>
                </a:solidFill>
                <a:latin typeface="Calibri" pitchFamily="34" charset="0"/>
                <a:ea typeface="Calibri" pitchFamily="34" charset="-122"/>
                <a:cs typeface="Calibri" pitchFamily="34" charset="-120"/>
              </a:rPr>
              <a:t>Administrator account</a:t>
            </a:r>
            <a:endParaRPr lang="en-US" sz="1400" dirty="0"/>
          </a:p>
        </p:txBody>
      </p:sp>
      <p:sp>
        <p:nvSpPr>
          <p:cNvPr id="17" name="Text 14"/>
          <p:cNvSpPr/>
          <p:nvPr/>
        </p:nvSpPr>
        <p:spPr>
          <a:xfrm>
            <a:off x="7589520" y="5175504"/>
            <a:ext cx="457200" cy="630936"/>
          </a:xfrm>
          <a:prstGeom prst="rect">
            <a:avLst/>
          </a:prstGeom>
          <a:noFill/>
          <a:ln/>
        </p:spPr>
        <p:txBody>
          <a:bodyPr wrap="square" lIns="0" tIns="0" rIns="0" bIns="0" rtlCol="0" anchor="ctr"/>
          <a:lstStyle/>
          <a:p>
            <a:pPr marL="0" indent="0" algn="l">
              <a:buNone/>
            </a:pPr>
            <a:r>
              <a:rPr lang="en-US" sz="1800" b="1" dirty="0">
                <a:solidFill>
                  <a:srgbClr val="5B7FFF"/>
                </a:solidFill>
                <a:latin typeface="Calibri" pitchFamily="34" charset="0"/>
                <a:ea typeface="Calibri" pitchFamily="34" charset="-122"/>
                <a:cs typeface="Calibri" pitchFamily="34" charset="-120"/>
              </a:rPr>
              <a:t>5</a:t>
            </a:r>
            <a:endParaRPr lang="en-US" sz="1800" dirty="0"/>
          </a:p>
        </p:txBody>
      </p:sp>
      <p:sp>
        <p:nvSpPr>
          <p:cNvPr id="18" name="Text 15"/>
          <p:cNvSpPr/>
          <p:nvPr/>
        </p:nvSpPr>
        <p:spPr>
          <a:xfrm>
            <a:off x="8092440" y="5175504"/>
            <a:ext cx="3154680" cy="630936"/>
          </a:xfrm>
          <a:prstGeom prst="rect">
            <a:avLst/>
          </a:prstGeom>
          <a:noFill/>
          <a:ln/>
        </p:spPr>
        <p:txBody>
          <a:bodyPr wrap="square" lIns="0" tIns="0" rIns="0" bIns="0" rtlCol="0" anchor="ctr"/>
          <a:lstStyle/>
          <a:p>
            <a:pPr marL="0" indent="0" algn="l">
              <a:buNone/>
            </a:pPr>
            <a:r>
              <a:rPr lang="en-US" sz="1400" dirty="0">
                <a:solidFill>
                  <a:srgbClr val="F5F6FA"/>
                </a:solidFill>
                <a:latin typeface="Calibri" pitchFamily="34" charset="0"/>
                <a:ea typeface="Calibri" pitchFamily="34" charset="-122"/>
                <a:cs typeface="Calibri" pitchFamily="34" charset="-120"/>
              </a:rPr>
              <a:t>Summary &amp; confirm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sp>
        <p:nvSpPr>
          <p:cNvPr id="3" name="Text 1"/>
          <p:cNvSpPr/>
          <p:nvPr/>
        </p:nvSpPr>
        <p:spPr>
          <a:xfrm>
            <a:off x="640080" y="548640"/>
            <a:ext cx="10881360" cy="365760"/>
          </a:xfrm>
          <a:prstGeom prst="rect">
            <a:avLst/>
          </a:prstGeom>
          <a:noFill/>
          <a:ln/>
        </p:spPr>
        <p:txBody>
          <a:bodyPr wrap="square" lIns="0" tIns="0" rIns="0" bIns="0" rtlCol="0" anchor="ctr"/>
          <a:lstStyle/>
          <a:p>
            <a:pPr marL="0" indent="0" algn="l">
              <a:buNone/>
            </a:pPr>
            <a:r>
              <a:rPr lang="en-US" sz="1400" b="1" kern="0" spc="200" dirty="0">
                <a:solidFill>
                  <a:srgbClr val="5B7FFF"/>
                </a:solidFill>
                <a:latin typeface="Calibri" pitchFamily="34" charset="0"/>
                <a:ea typeface="Calibri" pitchFamily="34" charset="-122"/>
                <a:cs typeface="Calibri" pitchFamily="34" charset="-120"/>
              </a:rPr>
              <a:t>STATION DESIGN</a:t>
            </a:r>
            <a:endParaRPr lang="en-US" sz="1400" dirty="0"/>
          </a:p>
        </p:txBody>
      </p:sp>
      <p:sp>
        <p:nvSpPr>
          <p:cNvPr id="4" name="Text 2"/>
          <p:cNvSpPr/>
          <p:nvPr/>
        </p:nvSpPr>
        <p:spPr>
          <a:xfrm>
            <a:off x="640080" y="932688"/>
            <a:ext cx="10881360" cy="685800"/>
          </a:xfrm>
          <a:prstGeom prst="rect">
            <a:avLst/>
          </a:prstGeom>
          <a:noFill/>
          <a:ln/>
        </p:spPr>
        <p:txBody>
          <a:bodyPr wrap="square" lIns="0" tIns="0" rIns="0" bIns="0" rtlCol="0" anchor="ctr"/>
          <a:lstStyle/>
          <a:p>
            <a:pPr marL="0" indent="0" algn="l">
              <a:buNone/>
            </a:pPr>
            <a:r>
              <a:rPr lang="en-US" sz="3200" b="1" dirty="0">
                <a:solidFill>
                  <a:srgbClr val="F5F6FA"/>
                </a:solidFill>
                <a:latin typeface="Calibri" pitchFamily="34" charset="0"/>
                <a:ea typeface="Calibri" pitchFamily="34" charset="-122"/>
                <a:cs typeface="Calibri" pitchFamily="34" charset="-120"/>
              </a:rPr>
              <a:t>Build it yourself.</a:t>
            </a:r>
            <a:endParaRPr lang="en-US" sz="3200" dirty="0"/>
          </a:p>
        </p:txBody>
      </p:sp>
      <p:sp>
        <p:nvSpPr>
          <p:cNvPr id="5" name="Shape 3"/>
          <p:cNvSpPr/>
          <p:nvPr/>
        </p:nvSpPr>
        <p:spPr>
          <a:xfrm>
            <a:off x="10858500" y="662940"/>
            <a:ext cx="777240" cy="777240"/>
          </a:xfrm>
          <a:prstGeom prst="ellipse">
            <a:avLst/>
          </a:prstGeom>
          <a:solidFill>
            <a:srgbClr val="5B7FFF"/>
          </a:solidFill>
          <a:ln/>
        </p:spPr>
        <p:txBody>
          <a:bodyPr/>
          <a:lstStyle/>
          <a:p>
            <a:endParaRPr lang="es-ES"/>
          </a:p>
        </p:txBody>
      </p:sp>
      <p:sp>
        <p:nvSpPr>
          <p:cNvPr id="7" name="Text 4"/>
          <p:cNvSpPr/>
          <p:nvPr/>
        </p:nvSpPr>
        <p:spPr>
          <a:xfrm>
            <a:off x="640080" y="2331720"/>
            <a:ext cx="6309360" cy="3657600"/>
          </a:xfrm>
          <a:prstGeom prst="rect">
            <a:avLst/>
          </a:prstGeom>
          <a:noFill/>
          <a:ln/>
        </p:spPr>
        <p:txBody>
          <a:bodyPr wrap="square" lIns="0" tIns="0" rIns="0" bIns="0" rtlCol="0" anchor="ctr"/>
          <a:lstStyle/>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From there, you build. No code, no developers, no backlog of feature requests.</a:t>
            </a:r>
            <a:endParaRPr lang="en-US" sz="1600" dirty="0"/>
          </a:p>
          <a:p>
            <a:pPr marL="0" indent="0" algn="l">
              <a:lnSpc>
                <a:spcPct val="125000"/>
              </a:lnSpc>
              <a:buNone/>
            </a:pPr>
            <a:endParaRPr lang="en-US" sz="1600" dirty="0"/>
          </a:p>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Open the station designer and drag onto the screen exactly what your operator needs to see – who's working, which order, which lot, which reading from the scale – and connect each field straight to your Odoo data with a click.</a:t>
            </a:r>
            <a:endParaRPr lang="en-US" sz="1600" dirty="0"/>
          </a:p>
          <a:p>
            <a:pPr marL="0" indent="0" algn="l">
              <a:lnSpc>
                <a:spcPct val="125000"/>
              </a:lnSpc>
              <a:buNone/>
            </a:pPr>
            <a:endParaRPr lang="en-US" sz="1600" dirty="0"/>
          </a:p>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Every station designed the way your floor actually works, not the way a generic template assumes it should.</a:t>
            </a:r>
            <a:endParaRPr lang="en-US" sz="1600" dirty="0"/>
          </a:p>
        </p:txBody>
      </p:sp>
      <p:sp>
        <p:nvSpPr>
          <p:cNvPr id="8" name="Shape 5"/>
          <p:cNvSpPr/>
          <p:nvPr/>
        </p:nvSpPr>
        <p:spPr>
          <a:xfrm>
            <a:off x="7315200" y="2331720"/>
            <a:ext cx="4206240" cy="3794760"/>
          </a:xfrm>
          <a:prstGeom prst="roundRect">
            <a:avLst>
              <a:gd name="adj" fmla="val 2892"/>
            </a:avLst>
          </a:prstGeom>
          <a:solidFill>
            <a:srgbClr val="121729"/>
          </a:solidFill>
          <a:ln/>
        </p:spPr>
        <p:txBody>
          <a:bodyPr/>
          <a:lstStyle/>
          <a:p>
            <a:endParaRPr lang="es-ES"/>
          </a:p>
        </p:txBody>
      </p:sp>
      <p:sp>
        <p:nvSpPr>
          <p:cNvPr id="9" name="Shape 6"/>
          <p:cNvSpPr/>
          <p:nvPr/>
        </p:nvSpPr>
        <p:spPr>
          <a:xfrm>
            <a:off x="7589520" y="3183636"/>
            <a:ext cx="109728" cy="109728"/>
          </a:xfrm>
          <a:prstGeom prst="ellipse">
            <a:avLst/>
          </a:prstGeom>
          <a:solidFill>
            <a:srgbClr val="5B7FFF"/>
          </a:solidFill>
          <a:ln/>
        </p:spPr>
        <p:txBody>
          <a:bodyPr/>
          <a:lstStyle/>
          <a:p>
            <a:endParaRPr lang="es-ES"/>
          </a:p>
        </p:txBody>
      </p:sp>
      <p:sp>
        <p:nvSpPr>
          <p:cNvPr id="10" name="Text 7"/>
          <p:cNvSpPr/>
          <p:nvPr/>
        </p:nvSpPr>
        <p:spPr>
          <a:xfrm>
            <a:off x="7863840" y="27432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No code</a:t>
            </a:r>
            <a:endParaRPr lang="en-US" sz="1600" dirty="0"/>
          </a:p>
        </p:txBody>
      </p:sp>
      <p:sp>
        <p:nvSpPr>
          <p:cNvPr id="11" name="Shape 8"/>
          <p:cNvSpPr/>
          <p:nvPr/>
        </p:nvSpPr>
        <p:spPr>
          <a:xfrm>
            <a:off x="7589520" y="4174236"/>
            <a:ext cx="109728" cy="109728"/>
          </a:xfrm>
          <a:prstGeom prst="ellipse">
            <a:avLst/>
          </a:prstGeom>
          <a:solidFill>
            <a:srgbClr val="5B7FFF"/>
          </a:solidFill>
          <a:ln/>
        </p:spPr>
        <p:txBody>
          <a:bodyPr/>
          <a:lstStyle/>
          <a:p>
            <a:endParaRPr lang="es-ES"/>
          </a:p>
        </p:txBody>
      </p:sp>
      <p:sp>
        <p:nvSpPr>
          <p:cNvPr id="12" name="Text 9"/>
          <p:cNvSpPr/>
          <p:nvPr/>
        </p:nvSpPr>
        <p:spPr>
          <a:xfrm>
            <a:off x="7863840" y="37338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No developers</a:t>
            </a:r>
            <a:endParaRPr lang="en-US" sz="1600" dirty="0"/>
          </a:p>
        </p:txBody>
      </p:sp>
      <p:sp>
        <p:nvSpPr>
          <p:cNvPr id="13" name="Shape 10"/>
          <p:cNvSpPr/>
          <p:nvPr/>
        </p:nvSpPr>
        <p:spPr>
          <a:xfrm>
            <a:off x="7589520" y="5164836"/>
            <a:ext cx="109728" cy="109728"/>
          </a:xfrm>
          <a:prstGeom prst="ellipse">
            <a:avLst/>
          </a:prstGeom>
          <a:solidFill>
            <a:srgbClr val="5B7FFF"/>
          </a:solidFill>
          <a:ln/>
        </p:spPr>
        <p:txBody>
          <a:bodyPr/>
          <a:lstStyle/>
          <a:p>
            <a:endParaRPr lang="es-ES"/>
          </a:p>
        </p:txBody>
      </p:sp>
      <p:sp>
        <p:nvSpPr>
          <p:cNvPr id="14" name="Text 11"/>
          <p:cNvSpPr/>
          <p:nvPr/>
        </p:nvSpPr>
        <p:spPr>
          <a:xfrm>
            <a:off x="7863840" y="47244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Connected to your real Odoo data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sp>
        <p:nvSpPr>
          <p:cNvPr id="3" name="Text 1"/>
          <p:cNvSpPr/>
          <p:nvPr/>
        </p:nvSpPr>
        <p:spPr>
          <a:xfrm>
            <a:off x="640080" y="548640"/>
            <a:ext cx="10881360" cy="365760"/>
          </a:xfrm>
          <a:prstGeom prst="rect">
            <a:avLst/>
          </a:prstGeom>
          <a:noFill/>
          <a:ln/>
        </p:spPr>
        <p:txBody>
          <a:bodyPr wrap="square" lIns="0" tIns="0" rIns="0" bIns="0" rtlCol="0" anchor="ctr"/>
          <a:lstStyle/>
          <a:p>
            <a:pPr marL="0" indent="0" algn="l">
              <a:buNone/>
            </a:pPr>
            <a:r>
              <a:rPr lang="en-US" sz="1400" b="1" kern="0" spc="200" dirty="0">
                <a:solidFill>
                  <a:srgbClr val="5B7FFF"/>
                </a:solidFill>
                <a:latin typeface="Calibri" pitchFamily="34" charset="0"/>
                <a:ea typeface="Calibri" pitchFamily="34" charset="-122"/>
                <a:cs typeface="Calibri" pitchFamily="34" charset="-120"/>
              </a:rPr>
              <a:t>ON THE FLOOR</a:t>
            </a:r>
            <a:endParaRPr lang="en-US" sz="1400" dirty="0"/>
          </a:p>
        </p:txBody>
      </p:sp>
      <p:sp>
        <p:nvSpPr>
          <p:cNvPr id="4" name="Text 2"/>
          <p:cNvSpPr/>
          <p:nvPr/>
        </p:nvSpPr>
        <p:spPr>
          <a:xfrm>
            <a:off x="640080" y="932688"/>
            <a:ext cx="10881360" cy="685800"/>
          </a:xfrm>
          <a:prstGeom prst="rect">
            <a:avLst/>
          </a:prstGeom>
          <a:noFill/>
          <a:ln/>
        </p:spPr>
        <p:txBody>
          <a:bodyPr wrap="square" lIns="0" tIns="0" rIns="0" bIns="0" rtlCol="0" anchor="ctr"/>
          <a:lstStyle/>
          <a:p>
            <a:pPr marL="0" indent="0" algn="l">
              <a:buNone/>
            </a:pPr>
            <a:r>
              <a:rPr lang="en-US" sz="3200" b="1" dirty="0">
                <a:solidFill>
                  <a:srgbClr val="F5F6FA"/>
                </a:solidFill>
                <a:latin typeface="Calibri" pitchFamily="34" charset="0"/>
                <a:ea typeface="Calibri" pitchFamily="34" charset="-122"/>
                <a:cs typeface="Calibri" pitchFamily="34" charset="-120"/>
              </a:rPr>
              <a:t>Watch it run.</a:t>
            </a:r>
            <a:endParaRPr lang="en-US" sz="3200" dirty="0"/>
          </a:p>
        </p:txBody>
      </p:sp>
      <p:sp>
        <p:nvSpPr>
          <p:cNvPr id="5" name="Shape 3"/>
          <p:cNvSpPr/>
          <p:nvPr/>
        </p:nvSpPr>
        <p:spPr>
          <a:xfrm>
            <a:off x="10858500" y="662940"/>
            <a:ext cx="777240" cy="777240"/>
          </a:xfrm>
          <a:prstGeom prst="ellipse">
            <a:avLst/>
          </a:prstGeom>
          <a:solidFill>
            <a:srgbClr val="5B7FFF"/>
          </a:solidFill>
          <a:ln/>
        </p:spPr>
        <p:txBody>
          <a:bodyPr/>
          <a:lstStyle/>
          <a:p>
            <a:endParaRPr lang="es-ES"/>
          </a:p>
        </p:txBody>
      </p:sp>
      <p:sp>
        <p:nvSpPr>
          <p:cNvPr id="7" name="Text 4"/>
          <p:cNvSpPr/>
          <p:nvPr/>
        </p:nvSpPr>
        <p:spPr>
          <a:xfrm>
            <a:off x="640080" y="2331720"/>
            <a:ext cx="6309360" cy="3657600"/>
          </a:xfrm>
          <a:prstGeom prst="rect">
            <a:avLst/>
          </a:prstGeom>
          <a:noFill/>
          <a:ln/>
        </p:spPr>
        <p:txBody>
          <a:bodyPr wrap="square" lIns="0" tIns="0" rIns="0" bIns="0" rtlCol="0" anchor="ctr"/>
          <a:lstStyle/>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And then it runs, right there on the floor. This is what the operator sees: read, weigh, confirm – and it's already written back to Odoo, in real time.</a:t>
            </a:r>
            <a:endParaRPr lang="en-US" sz="1600" dirty="0"/>
          </a:p>
          <a:p>
            <a:pPr marL="0" indent="0" algn="l">
              <a:lnSpc>
                <a:spcPct val="125000"/>
              </a:lnSpc>
              <a:buNone/>
            </a:pPr>
            <a:endParaRPr lang="en-US" sz="1600" dirty="0"/>
          </a:p>
          <a:p>
            <a:pPr marL="0" indent="0" algn="l">
              <a:lnSpc>
                <a:spcPct val="125000"/>
              </a:lnSpc>
              <a:buNone/>
            </a:pPr>
            <a:r>
              <a:rPr lang="en-US" sz="1600" dirty="0">
                <a:solidFill>
                  <a:srgbClr val="C7CCDA"/>
                </a:solidFill>
                <a:latin typeface="Calibri" pitchFamily="34" charset="0"/>
                <a:ea typeface="Calibri" pitchFamily="34" charset="-122"/>
                <a:cs typeface="Calibri" pitchFamily="34" charset="-120"/>
              </a:rPr>
              <a:t>No spreadsheet at the end of the shift, no retyping, no gap between what happened on the line and what the system knows. Just the truth, the moment it happens.</a:t>
            </a:r>
            <a:endParaRPr lang="en-US" sz="1600" dirty="0"/>
          </a:p>
        </p:txBody>
      </p:sp>
      <p:sp>
        <p:nvSpPr>
          <p:cNvPr id="8" name="Shape 5"/>
          <p:cNvSpPr/>
          <p:nvPr/>
        </p:nvSpPr>
        <p:spPr>
          <a:xfrm>
            <a:off x="7315200" y="2331720"/>
            <a:ext cx="4206240" cy="3794760"/>
          </a:xfrm>
          <a:prstGeom prst="roundRect">
            <a:avLst>
              <a:gd name="adj" fmla="val 2892"/>
            </a:avLst>
          </a:prstGeom>
          <a:solidFill>
            <a:srgbClr val="121729"/>
          </a:solidFill>
          <a:ln/>
        </p:spPr>
        <p:txBody>
          <a:bodyPr/>
          <a:lstStyle/>
          <a:p>
            <a:endParaRPr lang="es-ES"/>
          </a:p>
        </p:txBody>
      </p:sp>
      <p:sp>
        <p:nvSpPr>
          <p:cNvPr id="9" name="Shape 6"/>
          <p:cNvSpPr/>
          <p:nvPr/>
        </p:nvSpPr>
        <p:spPr>
          <a:xfrm>
            <a:off x="7589520" y="3183636"/>
            <a:ext cx="109728" cy="109728"/>
          </a:xfrm>
          <a:prstGeom prst="ellipse">
            <a:avLst/>
          </a:prstGeom>
          <a:solidFill>
            <a:srgbClr val="5B7FFF"/>
          </a:solidFill>
          <a:ln/>
        </p:spPr>
        <p:txBody>
          <a:bodyPr/>
          <a:lstStyle/>
          <a:p>
            <a:endParaRPr lang="es-ES"/>
          </a:p>
        </p:txBody>
      </p:sp>
      <p:sp>
        <p:nvSpPr>
          <p:cNvPr id="10" name="Text 7"/>
          <p:cNvSpPr/>
          <p:nvPr/>
        </p:nvSpPr>
        <p:spPr>
          <a:xfrm>
            <a:off x="7863840" y="27432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Real time</a:t>
            </a:r>
            <a:endParaRPr lang="en-US" sz="1600" dirty="0"/>
          </a:p>
        </p:txBody>
      </p:sp>
      <p:sp>
        <p:nvSpPr>
          <p:cNvPr id="11" name="Shape 8"/>
          <p:cNvSpPr/>
          <p:nvPr/>
        </p:nvSpPr>
        <p:spPr>
          <a:xfrm>
            <a:off x="7589520" y="4174236"/>
            <a:ext cx="109728" cy="109728"/>
          </a:xfrm>
          <a:prstGeom prst="ellipse">
            <a:avLst/>
          </a:prstGeom>
          <a:solidFill>
            <a:srgbClr val="5B7FFF"/>
          </a:solidFill>
          <a:ln/>
        </p:spPr>
        <p:txBody>
          <a:bodyPr/>
          <a:lstStyle/>
          <a:p>
            <a:endParaRPr lang="es-ES"/>
          </a:p>
        </p:txBody>
      </p:sp>
      <p:sp>
        <p:nvSpPr>
          <p:cNvPr id="12" name="Text 9"/>
          <p:cNvSpPr/>
          <p:nvPr/>
        </p:nvSpPr>
        <p:spPr>
          <a:xfrm>
            <a:off x="7863840" y="37338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Zero re-typing</a:t>
            </a:r>
            <a:endParaRPr lang="en-US" sz="1600" dirty="0"/>
          </a:p>
        </p:txBody>
      </p:sp>
      <p:sp>
        <p:nvSpPr>
          <p:cNvPr id="13" name="Shape 10"/>
          <p:cNvSpPr/>
          <p:nvPr/>
        </p:nvSpPr>
        <p:spPr>
          <a:xfrm>
            <a:off x="7589520" y="5164836"/>
            <a:ext cx="109728" cy="109728"/>
          </a:xfrm>
          <a:prstGeom prst="ellipse">
            <a:avLst/>
          </a:prstGeom>
          <a:solidFill>
            <a:srgbClr val="5B7FFF"/>
          </a:solidFill>
          <a:ln/>
        </p:spPr>
        <p:txBody>
          <a:bodyPr/>
          <a:lstStyle/>
          <a:p>
            <a:endParaRPr lang="es-ES"/>
          </a:p>
        </p:txBody>
      </p:sp>
      <p:sp>
        <p:nvSpPr>
          <p:cNvPr id="14" name="Text 11"/>
          <p:cNvSpPr/>
          <p:nvPr/>
        </p:nvSpPr>
        <p:spPr>
          <a:xfrm>
            <a:off x="7863840" y="4724400"/>
            <a:ext cx="3383280" cy="990600"/>
          </a:xfrm>
          <a:prstGeom prst="rect">
            <a:avLst/>
          </a:prstGeom>
          <a:noFill/>
          <a:ln/>
        </p:spPr>
        <p:txBody>
          <a:bodyPr wrap="square" lIns="0" tIns="0" rIns="0" bIns="0" rtlCol="0" anchor="ctr"/>
          <a:lstStyle/>
          <a:p>
            <a:pPr marL="0" indent="0" algn="l">
              <a:buNone/>
            </a:pPr>
            <a:r>
              <a:rPr lang="en-US" sz="1600" b="1" dirty="0">
                <a:solidFill>
                  <a:srgbClr val="F5F6FA"/>
                </a:solidFill>
                <a:latin typeface="Calibri" pitchFamily="34" charset="0"/>
                <a:ea typeface="Calibri" pitchFamily="34" charset="-122"/>
                <a:cs typeface="Calibri" pitchFamily="34" charset="-120"/>
              </a:rPr>
              <a:t>Straight into Odoo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162495" y="-3200400"/>
            <a:ext cx="8229600" cy="8229600"/>
          </a:xfrm>
          <a:prstGeom prst="ellipse">
            <a:avLst/>
          </a:prstGeom>
          <a:solidFill>
            <a:srgbClr val="5B7FFF">
              <a:alpha val="7000"/>
            </a:srgbClr>
          </a:solidFill>
          <a:ln/>
        </p:spPr>
        <p:txBody>
          <a:bodyPr/>
          <a:lstStyle/>
          <a:p>
            <a:endParaRPr lang="es-ES"/>
          </a:p>
        </p:txBody>
      </p:sp>
      <p:sp>
        <p:nvSpPr>
          <p:cNvPr id="7" name="Text 2">
            <a:extLst>
              <a:ext uri="{FF2B5EF4-FFF2-40B4-BE49-F238E27FC236}">
                <a16:creationId xmlns:a16="http://schemas.microsoft.com/office/drawing/2014/main" id="{21CA1D62-63E7-C218-F7DA-FE8DD2AC03AD}"/>
              </a:ext>
            </a:extLst>
          </p:cNvPr>
          <p:cNvSpPr/>
          <p:nvPr/>
        </p:nvSpPr>
        <p:spPr>
          <a:xfrm>
            <a:off x="0" y="4754880"/>
            <a:ext cx="12191695" cy="457200"/>
          </a:xfrm>
          <a:prstGeom prst="rect">
            <a:avLst/>
          </a:prstGeom>
          <a:noFill/>
          <a:ln/>
        </p:spPr>
        <p:txBody>
          <a:bodyPr wrap="square" lIns="0" tIns="0" rIns="0" bIns="0" rtlCol="0" anchor="ctr"/>
          <a:lstStyle/>
          <a:p>
            <a:pPr marL="0" indent="0" algn="ctr">
              <a:buNone/>
            </a:pPr>
            <a:r>
              <a:rPr lang="en-US" sz="1800" dirty="0">
                <a:solidFill>
                  <a:srgbClr val="8A93A6"/>
                </a:solidFill>
                <a:latin typeface="Calibri" pitchFamily="34" charset="0"/>
                <a:ea typeface="Calibri" pitchFamily="34" charset="-122"/>
                <a:cs typeface="Calibri" pitchFamily="34" charset="-120"/>
              </a:rPr>
              <a:t>Open Source, No-code, Composable, On Premise, built on Odoo</a:t>
            </a:r>
            <a:endParaRPr lang="en-US" sz="1800" dirty="0"/>
          </a:p>
        </p:txBody>
      </p:sp>
      <p:sp>
        <p:nvSpPr>
          <p:cNvPr id="9" name="Text 1">
            <a:extLst>
              <a:ext uri="{FF2B5EF4-FFF2-40B4-BE49-F238E27FC236}">
                <a16:creationId xmlns:a16="http://schemas.microsoft.com/office/drawing/2014/main" id="{8CDE2439-F895-5EF8-CE28-981161F2B2BA}"/>
              </a:ext>
            </a:extLst>
          </p:cNvPr>
          <p:cNvSpPr/>
          <p:nvPr/>
        </p:nvSpPr>
        <p:spPr>
          <a:xfrm>
            <a:off x="0" y="3840480"/>
            <a:ext cx="12191695" cy="822960"/>
          </a:xfrm>
          <a:prstGeom prst="rect">
            <a:avLst/>
          </a:prstGeom>
          <a:noFill/>
          <a:ln/>
        </p:spPr>
        <p:txBody>
          <a:bodyPr wrap="square" lIns="0" tIns="0" rIns="0" bIns="0" rtlCol="0" anchor="ctr"/>
          <a:lstStyle/>
          <a:p>
            <a:pPr marL="0" indent="0" algn="ctr">
              <a:buNone/>
            </a:pPr>
            <a:r>
              <a:rPr lang="en-US" sz="4400" b="1" kern="0" spc="400" dirty="0">
                <a:solidFill>
                  <a:srgbClr val="F5F6FA"/>
                </a:solidFill>
                <a:latin typeface="Calibri" pitchFamily="34" charset="0"/>
                <a:ea typeface="Calibri" pitchFamily="34" charset="-122"/>
                <a:cs typeface="Calibri" pitchFamily="34" charset="-120"/>
              </a:rPr>
              <a:t>MANUFACTOO</a:t>
            </a:r>
            <a:endParaRPr lang="en-US" sz="4400" dirty="0"/>
          </a:p>
        </p:txBody>
      </p:sp>
      <p:pic>
        <p:nvPicPr>
          <p:cNvPr id="11" name="Image 0" descr="C:\proyectos\manufactoo\frontend\public\manufactoo-logo-dark.png">
            <a:extLst>
              <a:ext uri="{FF2B5EF4-FFF2-40B4-BE49-F238E27FC236}">
                <a16:creationId xmlns:a16="http://schemas.microsoft.com/office/drawing/2014/main" id="{31EEE63F-D918-CA8F-4832-9CDB0C5A22F4}"/>
              </a:ext>
            </a:extLst>
          </p:cNvPr>
          <p:cNvPicPr>
            <a:picLocks noChangeAspect="1"/>
          </p:cNvPicPr>
          <p:nvPr/>
        </p:nvPicPr>
        <p:blipFill>
          <a:blip r:embed="rId3"/>
          <a:stretch>
            <a:fillRect/>
          </a:stretch>
        </p:blipFill>
        <p:spPr>
          <a:xfrm>
            <a:off x="5181448" y="1828800"/>
            <a:ext cx="182880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869</Words>
  <Application>Microsoft Office PowerPoint</Application>
  <PresentationFormat>Widescreen</PresentationFormat>
  <Paragraphs>58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Alejandro Rioja Chocron</cp:lastModifiedBy>
  <cp:revision>3</cp:revision>
  <dcterms:created xsi:type="dcterms:W3CDTF">2026-08-10T11:17:19Z</dcterms:created>
  <dcterms:modified xsi:type="dcterms:W3CDTF">2026-08-10T11:22:11Z</dcterms:modified>
</cp:coreProperties>
</file>